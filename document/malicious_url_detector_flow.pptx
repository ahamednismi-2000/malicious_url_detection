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3" d="100"/>
          <a:sy n="143" d="100"/>
        </p:scale>
        <p:origin x="68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4689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1565C0">
              <a:alpha val="25000"/>
            </a:srgbClr>
          </a:solidFill>
          <a:ln w="12700">
            <a:solidFill>
              <a:srgbClr val="1565C0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457200"/>
            <a:ext cx="1828800" cy="1828800"/>
          </a:xfrm>
          <a:prstGeom prst="ellipse">
            <a:avLst/>
          </a:prstGeom>
          <a:solidFill>
            <a:srgbClr val="0097A7">
              <a:alpha val="40000"/>
            </a:srgbClr>
          </a:solidFill>
          <a:ln w="12700">
            <a:solidFill>
              <a:srgbClr val="0097A7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14400"/>
            <a:ext cx="731520" cy="822960"/>
          </a:xfrm>
          <a:prstGeom prst="roundRect">
            <a:avLst>
              <a:gd name="adj" fmla="val 12500"/>
            </a:avLst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🛡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84882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 ML-Based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7EC8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Malicious URL Detection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Extension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3703320"/>
            <a:ext cx="2743200" cy="0"/>
          </a:xfrm>
          <a:prstGeom prst="line">
            <a:avLst/>
          </a:prstGeom>
          <a:noFill/>
          <a:ln w="25400">
            <a:solidFill>
              <a:srgbClr val="0097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How It Works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Project  |  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05156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3.4B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emails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daily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606040" y="1005840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606040" y="105156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1.5M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606040" y="18288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phishing sites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monthly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05156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754880" y="18288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Cyberattacks begin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phishing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903720" y="1005840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903720" y="105156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0.3s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903720" y="18288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detection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per URL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27889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" y="32004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browser extension that checks every URL in real-time before the page loads
</a:t>
            </a:r>
            <a:r>
              <a:rPr lang="en-US" sz="13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4-layer detection pipeline: Whitelist → Google Safe Browsing → ML Model → Domain Age
</a:t>
            </a:r>
            <a:r>
              <a:rPr lang="en-US" sz="13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559-feature Random Forest classifier trained on 137,000+ real URLs
</a:t>
            </a:r>
            <a:r>
              <a:rPr lang="en-US" sz="13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Plain-English explanations so users understand WHY a URL was flagged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4-Layer Detection Pipeline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58368" y="15544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0BEC5"/>
                </a:solidFill>
              </a:rPr>
              <a:t>▼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896112"/>
            <a:ext cx="83210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969264"/>
            <a:ext cx="685800" cy="676656"/>
          </a:xfrm>
          <a:prstGeom prst="roundRect">
            <a:avLst>
              <a:gd name="adj" fmla="val 8108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69264"/>
            <a:ext cx="6858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96926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Whitelist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29844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50,000+ trusted domains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BENIGN result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132320" y="1078992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2E7D32">
              <a:alpha val="15000"/>
            </a:srgbClr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0" y="1078992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BENIGN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58368" y="25146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0BEC5"/>
                </a:solidFill>
              </a:rPr>
              <a:t>▼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1856232"/>
            <a:ext cx="83210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1480" y="1929384"/>
            <a:ext cx="685800" cy="676656"/>
          </a:xfrm>
          <a:prstGeom prst="roundRect">
            <a:avLst>
              <a:gd name="adj" fmla="val 8108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1929384"/>
            <a:ext cx="6858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192938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Safe Browsing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225856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threat DB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MALICIOUS result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132320" y="2039112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C62828">
              <a:alpha val="15000"/>
            </a:srgbClr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0" y="2039112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MALICIOUS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8368" y="34747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0BEC5"/>
                </a:solidFill>
              </a:rPr>
              <a:t>▼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2816352"/>
            <a:ext cx="83210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11480" y="2889504"/>
            <a:ext cx="685800" cy="676656"/>
          </a:xfrm>
          <a:prstGeom prst="roundRect">
            <a:avLst>
              <a:gd name="adj" fmla="val 8108"/>
            </a:avLst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889504"/>
            <a:ext cx="6858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34440" y="288950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34440" y="321868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559-feature Random Forest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score 0–100%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132320" y="2999232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0097A7">
              <a:alpha val="15000"/>
            </a:srgbClr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32320" y="2999232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Score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3776472"/>
            <a:ext cx="83210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11480" y="3849624"/>
            <a:ext cx="685800" cy="676656"/>
          </a:xfrm>
          <a:prstGeom prst="roundRect">
            <a:avLst>
              <a:gd name="adj" fmla="val 8108"/>
            </a:avLst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3849624"/>
            <a:ext cx="6858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234440" y="384962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Age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234440" y="417880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WHOIS lookup (cached)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Adjusts confidence score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132320" y="3959352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F57F17">
              <a:alpha val="15000"/>
            </a:srgbClr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32320" y="3959352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Final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65760" y="475488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only runs if the previous layer did not produce a definitive result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1005840" cy="502920"/>
          </a:xfrm>
          <a:prstGeom prst="roundRect">
            <a:avLst>
              <a:gd name="adj" fmla="val 14545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508760" y="2286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 0 — Whitelist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the registered domain (eTLD+1) from the URL using tldextract
</a:t>
            </a: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it against 50,000+ Tranco top domains + 90 manually curated sites
</a:t>
            </a: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 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subdomain check — mail.google.com passes, randomhex.google.com goes to ML
</a:t>
            </a: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 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detection — google.com.evil.tk extracts evil.tk → NOT whitelisted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846320" y="8686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846320" y="1280160"/>
            <a:ext cx="384048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32588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https://mail.google.com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452360" y="1344168"/>
            <a:ext cx="1143000" cy="256032"/>
          </a:xfrm>
          <a:prstGeom prst="roundRect">
            <a:avLst>
              <a:gd name="adj" fmla="val 21429"/>
            </a:avLst>
          </a:prstGeom>
          <a:solidFill>
            <a:srgbClr val="2E7D32">
              <a:alpha val="20000"/>
            </a:srgbClr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52360" y="1344168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937760" y="166420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subdomain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846320" y="2084832"/>
            <a:ext cx="384048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37760" y="213055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https://docs.python.org/3/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452360" y="2148840"/>
            <a:ext cx="1143000" cy="256032"/>
          </a:xfrm>
          <a:prstGeom prst="roundRect">
            <a:avLst>
              <a:gd name="adj" fmla="val 21429"/>
            </a:avLst>
          </a:prstGeom>
          <a:solidFill>
            <a:srgbClr val="2E7D32">
              <a:alpha val="20000"/>
            </a:srgbClr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52360" y="2148840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937760" y="246888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subdomain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846320" y="2889504"/>
            <a:ext cx="384048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37760" y="2935224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http://google.com.evil.tk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452360" y="2953512"/>
            <a:ext cx="1143000" cy="256032"/>
          </a:xfrm>
          <a:prstGeom prst="roundRect">
            <a:avLst>
              <a:gd name="adj" fmla="val 21429"/>
            </a:avLst>
          </a:prstGeom>
          <a:solidFill>
            <a:srgbClr val="F57F17">
              <a:alpha val="20000"/>
            </a:srgbClr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52360" y="2953512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937760" y="327355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evil.tk not whitelisted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846320" y="3694176"/>
            <a:ext cx="384048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937760" y="3739896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http://rnd8f3.google.com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452360" y="3758184"/>
            <a:ext cx="1143000" cy="256032"/>
          </a:xfrm>
          <a:prstGeom prst="roundRect">
            <a:avLst>
              <a:gd name="adj" fmla="val 21429"/>
            </a:avLst>
          </a:prstGeom>
          <a:solidFill>
            <a:srgbClr val="F57F17">
              <a:alpha val="20000"/>
            </a:srgbClr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52360" y="3758184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937760" y="407822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subdomain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" y="4524278"/>
            <a:ext cx="8321040" cy="502920"/>
          </a:xfrm>
          <a:prstGeom prst="roundRect">
            <a:avLst>
              <a:gd name="adj" fmla="val 14545"/>
            </a:avLst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4518871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If domain is trusted → immediately return BENIGN (100% confidence). No ML needed.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1005840" cy="502920"/>
          </a:xfrm>
          <a:prstGeom prst="roundRect">
            <a:avLst>
              <a:gd name="adj" fmla="val 14545"/>
            </a:avLst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508760" y="2286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 2 — ML Model: 559 Features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2743200" cy="40690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932688"/>
            <a:ext cx="2560320" cy="548640"/>
          </a:xfrm>
          <a:prstGeom prst="roundRect">
            <a:avLst>
              <a:gd name="adj" fmla="val 11667"/>
            </a:avLst>
          </a:prstGeom>
          <a:solidFill>
            <a:srgbClr val="1565C0">
              <a:alpha val="15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32688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Features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148840" y="932688"/>
            <a:ext cx="868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02920" y="155448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length, dots, hyphens, digits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029968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address flag, risky TLD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505456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words (verify, login, alert)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2980944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flag, shortened URL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3456432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Leet speak detection (g00gle, paypa1)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393192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impersonation score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46120" y="868680"/>
            <a:ext cx="2743200" cy="40690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337560" y="932688"/>
            <a:ext cx="2560320" cy="548640"/>
          </a:xfrm>
          <a:prstGeom prst="roundRect">
            <a:avLst>
              <a:gd name="adj" fmla="val 11667"/>
            </a:avLst>
          </a:prstGeom>
          <a:solidFill>
            <a:srgbClr val="0097A7">
              <a:alpha val="15000"/>
            </a:srgbClr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7560" y="932688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 N-gram TF-IDF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0" y="932688"/>
            <a:ext cx="868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383280" y="155448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URL into 2-4 char sequences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83280" y="2029968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random-looking domains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83280" y="2505456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Fitted on training data only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83280" y="2980944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'x7f2k9.tk' → unusual pattern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83280" y="3456432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leakage — train only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26480" y="868680"/>
            <a:ext cx="2743200" cy="40690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17920" y="932688"/>
            <a:ext cx="2560320" cy="548640"/>
          </a:xfrm>
          <a:prstGeom prst="roundRect">
            <a:avLst>
              <a:gd name="adj" fmla="val 11667"/>
            </a:avLst>
          </a:prstGeom>
          <a:solidFill>
            <a:srgbClr val="F57F17">
              <a:alpha val="15000"/>
            </a:srgbClr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932688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N-gram TF-IDF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909560" y="932688"/>
            <a:ext cx="868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263640" y="155448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Tokenises URL into words first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63640" y="2029968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paypal-security-alert.com →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63640" y="2505456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['paypal','security','alert']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63640" y="2980944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phishing word patterns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63640" y="3456432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Fitted on training data only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" y="4617720"/>
            <a:ext cx="8321040" cy="384048"/>
          </a:xfrm>
          <a:prstGeom prst="roundRect">
            <a:avLst>
              <a:gd name="adj" fmla="val 16667"/>
            </a:avLst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6177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— 300 trees  |  max_depth=25  |  n_estimators=300  |  Threshold: 47%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Rule-Based Safety Overrides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overrides applied BEFORE domain age — catches patterns the ML model may miss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3210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38912" y="1207008"/>
            <a:ext cx="1645920" cy="411480"/>
          </a:xfrm>
          <a:prstGeom prst="roundRect">
            <a:avLst>
              <a:gd name="adj" fmla="val 15556"/>
            </a:avLst>
          </a:prstGeom>
          <a:solidFill>
            <a:srgbClr val="C62828">
              <a:alpha val="15000"/>
            </a:srgbClr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07008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Leet Speak Override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664208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leet substitution detected (0→o, 1→i/l, 3→e …) in domain AND no HTTPS: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993392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Force confidence to 85%  →  Skip domain age  →  Return MALICIOUS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577840" y="1508760"/>
            <a:ext cx="1444752" cy="393192"/>
          </a:xfrm>
          <a:prstGeom prst="roundRect">
            <a:avLst>
              <a:gd name="adj" fmla="val 13953"/>
            </a:avLst>
          </a:prstGeom>
          <a:solidFill>
            <a:srgbClr val="C62828">
              <a:alpha val="10000"/>
            </a:srgbClr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77840" y="1508760"/>
            <a:ext cx="144475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62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g00gle.com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132320" y="1508760"/>
            <a:ext cx="1444752" cy="393192"/>
          </a:xfrm>
          <a:prstGeom prst="roundRect">
            <a:avLst>
              <a:gd name="adj" fmla="val 13953"/>
            </a:avLst>
          </a:prstGeom>
          <a:solidFill>
            <a:srgbClr val="C62828">
              <a:alpha val="10000"/>
            </a:srgbClr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0" y="1508760"/>
            <a:ext cx="144475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62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paypa1.tk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577840" y="2011680"/>
            <a:ext cx="1444752" cy="393192"/>
          </a:xfrm>
          <a:prstGeom prst="roundRect">
            <a:avLst>
              <a:gd name="adj" fmla="val 13953"/>
            </a:avLst>
          </a:prstGeom>
          <a:solidFill>
            <a:srgbClr val="C62828">
              <a:alpha val="10000"/>
            </a:srgbClr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77840" y="2011680"/>
            <a:ext cx="144475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62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amaz0n-login.xyz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132320" y="2011680"/>
            <a:ext cx="1444752" cy="393192"/>
          </a:xfrm>
          <a:prstGeom prst="roundRect">
            <a:avLst>
              <a:gd name="adj" fmla="val 13953"/>
            </a:avLst>
          </a:prstGeom>
          <a:solidFill>
            <a:srgbClr val="C62828">
              <a:alpha val="10000"/>
            </a:srgbClr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0" y="2011680"/>
            <a:ext cx="144475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62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m1cr0s0ft.top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3017520"/>
            <a:ext cx="83210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38912" y="3081528"/>
            <a:ext cx="1920240" cy="411480"/>
          </a:xfrm>
          <a:prstGeom prst="roundRect">
            <a:avLst>
              <a:gd name="adj" fmla="val 15556"/>
            </a:avLst>
          </a:prstGeom>
          <a:solidFill>
            <a:srgbClr val="F57F17">
              <a:alpha val="15000"/>
            </a:srgbClr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081528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Domain Label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3538728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domain label itself contains a known malicious word: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3867912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Force confidence to 90%  →  Return MALICIOUS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577840" y="3401568"/>
            <a:ext cx="1444752" cy="393192"/>
          </a:xfrm>
          <a:prstGeom prst="roundRect">
            <a:avLst>
              <a:gd name="adj" fmla="val 13953"/>
            </a:avLst>
          </a:prstGeom>
          <a:solidFill>
            <a:srgbClr val="F57F17">
              <a:alpha val="12000"/>
            </a:srgbClr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77840" y="3401568"/>
            <a:ext cx="144475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7F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phishing.ru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132320" y="3401568"/>
            <a:ext cx="1444752" cy="393192"/>
          </a:xfrm>
          <a:prstGeom prst="roundRect">
            <a:avLst>
              <a:gd name="adj" fmla="val 13953"/>
            </a:avLst>
          </a:prstGeom>
          <a:solidFill>
            <a:srgbClr val="F57F17">
              <a:alpha val="12000"/>
            </a:srgbClr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32320" y="3401568"/>
            <a:ext cx="144475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7F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malware.tk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577840" y="3904488"/>
            <a:ext cx="1444752" cy="393192"/>
          </a:xfrm>
          <a:prstGeom prst="roundRect">
            <a:avLst>
              <a:gd name="adj" fmla="val 13953"/>
            </a:avLst>
          </a:prstGeom>
          <a:solidFill>
            <a:srgbClr val="F57F17">
              <a:alpha val="12000"/>
            </a:srgbClr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77840" y="3904488"/>
            <a:ext cx="144475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7F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trojan.xyz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132320" y="3904488"/>
            <a:ext cx="1444752" cy="393192"/>
          </a:xfrm>
          <a:prstGeom prst="roundRect">
            <a:avLst>
              <a:gd name="adj" fmla="val 13953"/>
            </a:avLst>
          </a:prstGeom>
          <a:solidFill>
            <a:srgbClr val="F57F17">
              <a:alpha val="12000"/>
            </a:srgbClr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32320" y="3904488"/>
            <a:ext cx="144475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7F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evil.net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1005840" cy="502920"/>
          </a:xfrm>
          <a:prstGeom prst="roundRect">
            <a:avLst>
              <a:gd name="adj" fmla="val 14545"/>
            </a:avLst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508760" y="2286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 3 — Domain Age Adjustment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domains = high phishing risk.  Old domains = established legitimate sites.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WHOIS lookup is cached — each domain looked up only ONCE, permanently stored.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481328"/>
            <a:ext cx="8321040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38912" y="1536192"/>
            <a:ext cx="1280160" cy="365760"/>
          </a:xfrm>
          <a:prstGeom prst="roundRect">
            <a:avLst>
              <a:gd name="adj" fmla="val 15000"/>
            </a:avLst>
          </a:prstGeom>
          <a:solidFill>
            <a:srgbClr val="C62828">
              <a:alpha val="15000"/>
            </a:srgbClr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53619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30 days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874520" y="1536192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1.4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834640" y="1572768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paypal-security.tk (2d) → very suspicious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029968"/>
            <a:ext cx="8321040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8912" y="2084832"/>
            <a:ext cx="1280160" cy="365760"/>
          </a:xfrm>
          <a:prstGeom prst="roundRect">
            <a:avLst>
              <a:gd name="adj" fmla="val 15000"/>
            </a:avLst>
          </a:prstGeom>
          <a:solidFill>
            <a:srgbClr val="F57F17">
              <a:alpha val="15000"/>
            </a:srgbClr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208483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30–180 days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874520" y="2084832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1.15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834640" y="2121408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new-shop.online (60d) → elevated risk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578608"/>
            <a:ext cx="8321040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8912" y="2633472"/>
            <a:ext cx="1280160" cy="365760"/>
          </a:xfrm>
          <a:prstGeom prst="roundRect">
            <a:avLst>
              <a:gd name="adj" fmla="val 15000"/>
            </a:avLst>
          </a:prstGeom>
          <a:solidFill>
            <a:srgbClr val="546E7A">
              <a:alpha val="15000"/>
            </a:srgbClr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263347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180–365 days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874520" y="2633472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1.0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834640" y="2670048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recent-startup.com (200d) → no change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127248"/>
            <a:ext cx="8321040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38912" y="3182112"/>
            <a:ext cx="1280160" cy="365760"/>
          </a:xfrm>
          <a:prstGeom prst="roundRect">
            <a:avLst>
              <a:gd name="adj" fmla="val 15000"/>
            </a:avLst>
          </a:prstGeom>
          <a:solidFill>
            <a:srgbClr val="0097A7">
              <a:alpha val="15000"/>
            </a:srgbClr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318211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years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874520" y="3182112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0.7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2834640" y="3218688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site → reduce score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3675888"/>
            <a:ext cx="8321040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38912" y="3730752"/>
            <a:ext cx="1280160" cy="365760"/>
          </a:xfrm>
          <a:prstGeom prst="roundRect">
            <a:avLst>
              <a:gd name="adj" fmla="val 15000"/>
            </a:avLst>
          </a:prstGeom>
          <a:solidFill>
            <a:srgbClr val="1565C0">
              <a:alpha val="15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8912" y="373075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2–5 years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874520" y="3730752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0.5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2834640" y="3767328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 domain → reduce more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" y="4224528"/>
            <a:ext cx="8321040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38912" y="4279392"/>
            <a:ext cx="1280160" cy="365760"/>
          </a:xfrm>
          <a:prstGeom prst="roundRect">
            <a:avLst>
              <a:gd name="adj" fmla="val 15000"/>
            </a:avLst>
          </a:prstGeom>
          <a:solidFill>
            <a:srgbClr val="2E7D32">
              <a:alpha val="15000"/>
            </a:srgbClr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8912" y="427939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5 years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874520" y="4279392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0.3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2834640" y="4315968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roadmap.sh (8yr) → significantly reduce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Explainability — Why Was This URL Flagged?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LIME (Local Interpretable Model-agnostic Explanations)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LIME Works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572768"/>
            <a:ext cx="39319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1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the flagged URL and its 559-feature vector
</a:t>
            </a:r>
            <a:r>
              <a:rPr lang="en-US" sz="11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Perturbs the features locally around the URL
</a:t>
            </a:r>
            <a:r>
              <a:rPr lang="en-US" sz="11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a simple interpretable model on those perturbations
</a:t>
            </a:r>
            <a:r>
              <a:rPr lang="en-US" sz="11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which features contributed most to the MALICIOUS verdict
</a:t>
            </a:r>
            <a:r>
              <a:rPr lang="en-US" sz="11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top features to plain-English sentences shown to the user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663440" y="1143000"/>
            <a:ext cx="402336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736592" y="1207008"/>
            <a:ext cx="3877056" cy="502920"/>
          </a:xfrm>
          <a:prstGeom prst="roundRect">
            <a:avLst>
              <a:gd name="adj" fmla="val 12727"/>
            </a:avLst>
          </a:prstGeom>
          <a:solidFill>
            <a:srgbClr val="C62828">
              <a:alpha val="10000"/>
            </a:srgbClr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73168" y="1216152"/>
            <a:ext cx="380390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MALICIOUS  —  87% confidence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73168" y="177393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URL:  http://g00gle.com/login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773168" y="208483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Reasons flagged: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73168" y="2404872"/>
            <a:ext cx="3749040" cy="548640"/>
          </a:xfrm>
          <a:prstGeom prst="roundRect">
            <a:avLst>
              <a:gd name="adj" fmla="val 10000"/>
            </a:avLst>
          </a:prstGeom>
          <a:solidFill>
            <a:srgbClr val="FFF3E0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2432304"/>
            <a:ext cx="3611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domain uses digit substitutions to impersonate Google (g00gle)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73168" y="3026664"/>
            <a:ext cx="3749040" cy="548640"/>
          </a:xfrm>
          <a:prstGeom prst="roundRect">
            <a:avLst>
              <a:gd name="adj" fmla="val 10000"/>
            </a:avLst>
          </a:prstGeom>
          <a:solidFill>
            <a:srgbClr val="FFF3E0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3054096"/>
            <a:ext cx="3611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site does not use HTTPS — connection not secure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73168" y="3648456"/>
            <a:ext cx="3749040" cy="548640"/>
          </a:xfrm>
          <a:prstGeom prst="roundRect">
            <a:avLst>
              <a:gd name="adj" fmla="val 10000"/>
            </a:avLst>
          </a:prstGeom>
          <a:solidFill>
            <a:srgbClr val="FFF3E0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3675888"/>
            <a:ext cx="3611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site uses a high-risk domain ending commonly used for phishing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4526280"/>
            <a:ext cx="8321040" cy="411480"/>
          </a:xfrm>
          <a:prstGeom prst="roundRect">
            <a:avLst>
              <a:gd name="adj" fmla="val 15556"/>
            </a:avLst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5262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 background matrix: 500 training URLs → 559 features → saved as lime_background.npz for fast loading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Performance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1600200" cy="178308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960120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0.9568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62763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1234440" cy="164592"/>
          </a:xfrm>
          <a:prstGeom prst="roundRect">
            <a:avLst>
              <a:gd name="adj" fmla="val 22222"/>
            </a:avLst>
          </a:prstGeom>
          <a:solidFill>
            <a:srgbClr val="E0E7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920240"/>
            <a:ext cx="1181359" cy="164592"/>
          </a:xfrm>
          <a:prstGeom prst="roundRect">
            <a:avLst>
              <a:gd name="adj" fmla="val 22222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84832" y="868680"/>
            <a:ext cx="1600200" cy="178308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084832" y="960120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0.9908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084832" y="162763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67712" y="1920240"/>
            <a:ext cx="1234440" cy="164592"/>
          </a:xfrm>
          <a:prstGeom prst="roundRect">
            <a:avLst>
              <a:gd name="adj" fmla="val 22222"/>
            </a:avLst>
          </a:prstGeom>
          <a:solidFill>
            <a:srgbClr val="E0E7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67712" y="1920240"/>
            <a:ext cx="1223330" cy="164592"/>
          </a:xfrm>
          <a:prstGeom prst="roundRect">
            <a:avLst>
              <a:gd name="adj" fmla="val 22222"/>
            </a:avLst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03904" y="868680"/>
            <a:ext cx="1600200" cy="178308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803904" y="960120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0.9571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803904" y="162763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986784" y="1920240"/>
            <a:ext cx="1234440" cy="164592"/>
          </a:xfrm>
          <a:prstGeom prst="roundRect">
            <a:avLst>
              <a:gd name="adj" fmla="val 22222"/>
            </a:avLst>
          </a:prstGeom>
          <a:solidFill>
            <a:srgbClr val="E0E7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986784" y="1920240"/>
            <a:ext cx="1181359" cy="164592"/>
          </a:xfrm>
          <a:prstGeom prst="roundRect">
            <a:avLst>
              <a:gd name="adj" fmla="val 22222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522976" y="868680"/>
            <a:ext cx="1600200" cy="178308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522976" y="960120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0.9639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5522976" y="162763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705856" y="1920240"/>
            <a:ext cx="1234440" cy="164592"/>
          </a:xfrm>
          <a:prstGeom prst="roundRect">
            <a:avLst>
              <a:gd name="adj" fmla="val 22222"/>
            </a:avLst>
          </a:prstGeom>
          <a:solidFill>
            <a:srgbClr val="E0E7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705856" y="1920240"/>
            <a:ext cx="1190000" cy="164592"/>
          </a:xfrm>
          <a:prstGeom prst="roundRect">
            <a:avLst>
              <a:gd name="adj" fmla="val 22222"/>
            </a:avLst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242048" y="868680"/>
            <a:ext cx="1600200" cy="178308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242048" y="960120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0.9499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7242048" y="162763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424928" y="1920240"/>
            <a:ext cx="1234440" cy="164592"/>
          </a:xfrm>
          <a:prstGeom prst="roundRect">
            <a:avLst>
              <a:gd name="adj" fmla="val 22222"/>
            </a:avLst>
          </a:prstGeom>
          <a:solidFill>
            <a:srgbClr val="E0E7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424928" y="1920240"/>
            <a:ext cx="1172718" cy="164592"/>
          </a:xfrm>
          <a:prstGeom prst="roundRect">
            <a:avLst>
              <a:gd name="adj" fmla="val 22222"/>
            </a:avLst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28803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Dataset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365760" y="3291840"/>
            <a:ext cx="2697480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38912" y="3364992"/>
            <a:ext cx="502920" cy="365760"/>
          </a:xfrm>
          <a:prstGeom prst="roundRect">
            <a:avLst>
              <a:gd name="adj" fmla="val 12500"/>
            </a:avLst>
          </a:prstGeom>
          <a:solidFill>
            <a:srgbClr val="C62828">
              <a:alpha val="15000"/>
            </a:srgbClr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8912" y="336499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24128" y="3346704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PhishTank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24128" y="356616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63,000 URLs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468880" y="3383280"/>
            <a:ext cx="5303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63,000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00400" y="3291840"/>
            <a:ext cx="2697480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273552" y="3364992"/>
            <a:ext cx="502920" cy="365760"/>
          </a:xfrm>
          <a:prstGeom prst="roundRect">
            <a:avLst>
              <a:gd name="adj" fmla="val 12500"/>
            </a:avLst>
          </a:prstGeom>
          <a:solidFill>
            <a:srgbClr val="F57F17">
              <a:alpha val="15000"/>
            </a:srgbClr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73552" y="336499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3858768" y="3346704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URLhaus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858768" y="356616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18,000 URLs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303520" y="3383280"/>
            <a:ext cx="5303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18,000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035040" y="3291840"/>
            <a:ext cx="2697480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108192" y="3364992"/>
            <a:ext cx="502920" cy="365760"/>
          </a:xfrm>
          <a:prstGeom prst="roundRect">
            <a:avLst>
              <a:gd name="adj" fmla="val 12500"/>
            </a:avLst>
          </a:prstGeom>
          <a:solidFill>
            <a:srgbClr val="7B1FA2">
              <a:alpha val="15000"/>
            </a:srgbClr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08192" y="336499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693408" y="3346704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OpenPhish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693408" y="356616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URLs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138160" y="3383280"/>
            <a:ext cx="5303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65760" y="3886200"/>
            <a:ext cx="2697480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38912" y="3959352"/>
            <a:ext cx="502920" cy="365760"/>
          </a:xfrm>
          <a:prstGeom prst="roundRect">
            <a:avLst>
              <a:gd name="adj" fmla="val 12500"/>
            </a:avLst>
          </a:prstGeom>
          <a:solidFill>
            <a:srgbClr val="1565C0">
              <a:alpha val="15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38912" y="395935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1024128" y="3941064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Leet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1024128" y="416052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4,700 URLs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2468880" y="3977640"/>
            <a:ext cx="5303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4,700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3200400" y="3886200"/>
            <a:ext cx="2697480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3273552" y="3959352"/>
            <a:ext cx="502920" cy="365760"/>
          </a:xfrm>
          <a:prstGeom prst="roundRect">
            <a:avLst>
              <a:gd name="adj" fmla="val 12500"/>
            </a:avLst>
          </a:prstGeom>
          <a:solidFill>
            <a:srgbClr val="2E7D32">
              <a:alpha val="15000"/>
            </a:srgbClr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273552" y="395935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3858768" y="3941064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Tranco Top-1M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3858768" y="416052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 URLs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5303520" y="3977640"/>
            <a:ext cx="5303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6035040" y="3886200"/>
            <a:ext cx="2697480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6108192" y="3959352"/>
            <a:ext cx="502920" cy="365760"/>
          </a:xfrm>
          <a:prstGeom prst="roundRect">
            <a:avLst>
              <a:gd name="adj" fmla="val 12500"/>
            </a:avLst>
          </a:prstGeom>
          <a:solidFill>
            <a:srgbClr val="0097A7">
              <a:alpha val="15000"/>
            </a:srgbClr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108192" y="395935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62" name="Text 60"/>
          <p:cNvSpPr/>
          <p:nvPr/>
        </p:nvSpPr>
        <p:spPr>
          <a:xfrm>
            <a:off x="6693408" y="3941064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Curated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6693408" y="416052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 URLs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8138160" y="3977640"/>
            <a:ext cx="5303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365760" y="4773168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137,470+ URLs  |  1:1 balanced  |  70/15/15 train/val/test split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4114800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38912" y="1005840"/>
            <a:ext cx="1280160" cy="411480"/>
          </a:xfrm>
          <a:prstGeom prst="roundRect">
            <a:avLst>
              <a:gd name="adj" fmla="val 13333"/>
            </a:avLst>
          </a:prstGeom>
          <a:solidFill>
            <a:srgbClr val="1565C0">
              <a:alpha val="15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828800" y="105156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RandomForestClassifier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663440" y="914400"/>
            <a:ext cx="4114800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36592" y="1005840"/>
            <a:ext cx="1280160" cy="411480"/>
          </a:xfrm>
          <a:prstGeom prst="roundRect">
            <a:avLst>
              <a:gd name="adj" fmla="val 13333"/>
            </a:avLst>
          </a:prstGeom>
          <a:solidFill>
            <a:srgbClr val="0097A7">
              <a:alpha val="15000"/>
            </a:srgbClr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1005840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126480" y="105156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 — LimeTabularExplainer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664208"/>
            <a:ext cx="4114800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8912" y="1755648"/>
            <a:ext cx="1280160" cy="411480"/>
          </a:xfrm>
          <a:prstGeom prst="roundRect">
            <a:avLst>
              <a:gd name="adj" fmla="val 13333"/>
            </a:avLst>
          </a:prstGeom>
          <a:solidFill>
            <a:srgbClr val="F57F17">
              <a:alpha val="15000"/>
            </a:srgbClr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755648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Features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828800" y="180136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(char + word n-grams)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1664208"/>
            <a:ext cx="4114800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36592" y="1755648"/>
            <a:ext cx="1280160" cy="411480"/>
          </a:xfrm>
          <a:prstGeom prst="roundRect">
            <a:avLst>
              <a:gd name="adj" fmla="val 13333"/>
            </a:avLst>
          </a:prstGeom>
          <a:solidFill>
            <a:srgbClr val="7B1FA2">
              <a:alpha val="15000"/>
            </a:srgbClr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1755648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Parsing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126480" y="180136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tldextract + urllib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2414016"/>
            <a:ext cx="4114800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38912" y="2505456"/>
            <a:ext cx="1280160" cy="411480"/>
          </a:xfrm>
          <a:prstGeom prst="roundRect">
            <a:avLst>
              <a:gd name="adj" fmla="val 13333"/>
            </a:avLst>
          </a:prstGeom>
          <a:solidFill>
            <a:srgbClr val="C62828">
              <a:alpha val="15000"/>
            </a:srgbClr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505456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828800" y="255117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+ flask-cors (port 5000)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2414016"/>
            <a:ext cx="4114800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36592" y="2505456"/>
            <a:ext cx="1280160" cy="411480"/>
          </a:xfrm>
          <a:prstGeom prst="roundRect">
            <a:avLst>
              <a:gd name="adj" fmla="val 13333"/>
            </a:avLst>
          </a:prstGeom>
          <a:solidFill>
            <a:srgbClr val="2E7D32">
              <a:alpha val="15000"/>
            </a:srgbClr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2505456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Check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126480" y="255117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Safe Browsing API v4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3163824"/>
            <a:ext cx="4114800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38912" y="3255264"/>
            <a:ext cx="1280160" cy="411480"/>
          </a:xfrm>
          <a:prstGeom prst="roundRect">
            <a:avLst>
              <a:gd name="adj" fmla="val 13333"/>
            </a:avLst>
          </a:prstGeom>
          <a:solidFill>
            <a:srgbClr val="F57F17">
              <a:alpha val="15000"/>
            </a:srgbClr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255264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Age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828800" y="330098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python-whois + persistent JSON cache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63440" y="3163824"/>
            <a:ext cx="4114800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36592" y="3255264"/>
            <a:ext cx="1280160" cy="411480"/>
          </a:xfrm>
          <a:prstGeom prst="roundRect">
            <a:avLst>
              <a:gd name="adj" fmla="val 13333"/>
            </a:avLst>
          </a:prstGeom>
          <a:solidFill>
            <a:srgbClr val="0D1B2A">
              <a:alpha val="15000"/>
            </a:srgbClr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3255264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126480" y="330098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Chrome/Brave — Manifest V3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65760" y="3913632"/>
            <a:ext cx="8321040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38912" y="4005072"/>
            <a:ext cx="1371600" cy="411480"/>
          </a:xfrm>
          <a:prstGeom prst="roundRect">
            <a:avLst>
              <a:gd name="adj" fmla="val 13333"/>
            </a:avLst>
          </a:prstGeom>
          <a:solidFill>
            <a:srgbClr val="546E7A">
              <a:alpha val="15000"/>
            </a:srgbClr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005072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920240" y="4050792"/>
            <a:ext cx="6492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3.14 (backend)  +  JavaScript (ext)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3657600" cy="3657600"/>
          </a:xfrm>
          <a:prstGeom prst="ellipse">
            <a:avLst/>
          </a:prstGeom>
          <a:solidFill>
            <a:srgbClr val="1565C0">
              <a:alpha val="20000"/>
            </a:srgbClr>
          </a:solidFill>
          <a:ln w="12700">
            <a:solidFill>
              <a:srgbClr val="1565C0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914400"/>
            <a:ext cx="2743200" cy="2743200"/>
          </a:xfrm>
          <a:prstGeom prst="ellipse">
            <a:avLst/>
          </a:prstGeom>
          <a:solidFill>
            <a:srgbClr val="0097A7">
              <a:alpha val="30000"/>
            </a:srgbClr>
          </a:solidFill>
          <a:ln w="12700">
            <a:solidFill>
              <a:srgbClr val="0097A7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Contributions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6012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🛡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1069848"/>
            <a:ext cx="7315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4-layer pipeline: Whitelist → GSB → ML (559 features) → Domain Age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709928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709928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🔤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88720" y="1819656"/>
            <a:ext cx="7315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Leet speak detection — dynamic decoder catches ANY variant (g00gle, paypa1, m1cr0s0ft)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459736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459736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🧠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88720" y="2569464"/>
            <a:ext cx="7315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on 137,470+ URLs — F1: 0.9568, AUC-ROC: 0.9908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209544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209544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💬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88720" y="3319272"/>
            <a:ext cx="7315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LIME-powered plain-English explanations shown to end user in browser extension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959352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959352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88720" y="4069080"/>
            <a:ext cx="7315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whitelist — protects subdomains (mail.google.com) while blocking bypass attacks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7EC8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1057</Words>
  <Application>Microsoft Office PowerPoint</Application>
  <PresentationFormat>On-screen Show (16:9)</PresentationFormat>
  <Paragraphs>217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Explainable ML-Based Malicious URL Detection</dc:title>
  <dc:subject>PptxGenJS Presentation</dc:subject>
  <dc:creator>Research Project</dc:creator>
  <cp:lastModifiedBy>AHAMED NISMI</cp:lastModifiedBy>
  <cp:revision>2</cp:revision>
  <dcterms:created xsi:type="dcterms:W3CDTF">2026-07-04T06:46:18Z</dcterms:created>
  <dcterms:modified xsi:type="dcterms:W3CDTF">2026-07-04T08:03:38Z</dcterms:modified>
</cp:coreProperties>
</file>